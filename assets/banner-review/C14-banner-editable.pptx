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5715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d24d9741aa3dfb5.png"/>
  <Relationship Id="rId3" Type="http://schemas.openxmlformats.org/officeDocument/2006/relationships/image" Target="../media/image_f003ad706bc8828c.png"/>
  <Relationship Id="rId4" Type="http://schemas.openxmlformats.org/officeDocument/2006/relationships/image" Target="../media/image_c3eab162470c2e08.png"/>
  <Relationship Id="rId5" Type="http://schemas.openxmlformats.org/officeDocument/2006/relationships/image" Target="../media/image_02adce0beab2d40f.png"/>
  <Relationship Id="rId6" Type="http://schemas.openxmlformats.org/officeDocument/2006/relationships/image" Target="../media/image_b89581d35ad1c749.png"/>
  <Relationship Id="rId7" Type="http://schemas.openxmlformats.org/officeDocument/2006/relationships/image" Target="../media/image_fe005f9ca27ae679.png"/>
  <Relationship Id="rId8" Type="http://schemas.openxmlformats.org/officeDocument/2006/relationships/image" Target="../media/image_8d6911423426f3d4.png"/>
  <Relationship Id="rId9" Type="http://schemas.openxmlformats.org/officeDocument/2006/relationships/image" Target="../media/image_25262cbdd474ca64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d24d9741aa3dfb5.png"/>
  <Relationship Id="rId3" Type="http://schemas.openxmlformats.org/officeDocument/2006/relationships/image" Target="../media/image_f003ad706bc8828c.png"/>
  <Relationship Id="rId4" Type="http://schemas.openxmlformats.org/officeDocument/2006/relationships/image" Target="../media/image_c3eab162470c2e08.png"/>
  <Relationship Id="rId5" Type="http://schemas.openxmlformats.org/officeDocument/2006/relationships/image" Target="../media/image_02adce0beab2d40f.png"/>
  <Relationship Id="rId6" Type="http://schemas.openxmlformats.org/officeDocument/2006/relationships/image" Target="../media/image_b89581d35ad1c749.png"/>
  <Relationship Id="rId7" Type="http://schemas.openxmlformats.org/officeDocument/2006/relationships/image" Target="../media/image_fe005f9ca27ae679.png"/>
  <Relationship Id="rId8" Type="http://schemas.openxmlformats.org/officeDocument/2006/relationships/image" Target="../media/image_8d6911423426f3d4.png"/>
  <Relationship Id="rId9" Type="http://schemas.openxmlformats.org/officeDocument/2006/relationships/image" Target="../media/image_25262cbdd474ca64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d24d9741aa3dfb5.png"/>
  <Relationship Id="rId3" Type="http://schemas.openxmlformats.org/officeDocument/2006/relationships/image" Target="../media/image_f003ad706bc8828c.png"/>
  <Relationship Id="rId4" Type="http://schemas.openxmlformats.org/officeDocument/2006/relationships/image" Target="../media/image_c3eab162470c2e08.png"/>
  <Relationship Id="rId5" Type="http://schemas.openxmlformats.org/officeDocument/2006/relationships/image" Target="../media/image_02adce0beab2d40f.png"/>
  <Relationship Id="rId6" Type="http://schemas.openxmlformats.org/officeDocument/2006/relationships/image" Target="../media/image_b89581d35ad1c749.png"/>
  <Relationship Id="rId7" Type="http://schemas.openxmlformats.org/officeDocument/2006/relationships/image" Target="../media/image_fe005f9ca27ae679.png"/>
  <Relationship Id="rId8" Type="http://schemas.openxmlformats.org/officeDocument/2006/relationships/image" Target="../media/image_8d6911423426f3d4.png"/>
  <Relationship Id="rId9" Type="http://schemas.openxmlformats.org/officeDocument/2006/relationships/image" Target="../media/image_25262cbdd474ca64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d24d9741aa3dfb5.png"/>
  <Relationship Id="rId3" Type="http://schemas.openxmlformats.org/officeDocument/2006/relationships/image" Target="../media/image_c3eab162470c2e08.png"/>
  <Relationship Id="rId4" Type="http://schemas.openxmlformats.org/officeDocument/2006/relationships/image" Target="../media/image_02adce0beab2d40f.png"/>
  <Relationship Id="rId5" Type="http://schemas.openxmlformats.org/officeDocument/2006/relationships/image" Target="../media/image_b89581d35ad1c749.png"/>
  <Relationship Id="rId6" Type="http://schemas.openxmlformats.org/officeDocument/2006/relationships/image" Target="../media/image_fe005f9ca27ae679.png"/>
  <Relationship Id="rId7" Type="http://schemas.openxmlformats.org/officeDocument/2006/relationships/image" Target="../media/image_8d6911423426f3d4.png"/>
  <Relationship Id="rId8" Type="http://schemas.openxmlformats.org/officeDocument/2006/relationships/image" Target="../media/image_25262cbdd474ca64.png"/>
  <Relationship Id="rId9" Type="http://schemas.openxmlformats.org/officeDocument/2006/relationships/image" Target="../media/image_9752f21fc76aac74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d24d9741aa3dfb5.png"/>
  <Relationship Id="rId3" Type="http://schemas.openxmlformats.org/officeDocument/2006/relationships/image" Target="../media/image_c3eab162470c2e08.png"/>
  <Relationship Id="rId4" Type="http://schemas.openxmlformats.org/officeDocument/2006/relationships/image" Target="../media/image_02adce0beab2d40f.png"/>
  <Relationship Id="rId5" Type="http://schemas.openxmlformats.org/officeDocument/2006/relationships/image" Target="../media/image_b89581d35ad1c749.png"/>
  <Relationship Id="rId6" Type="http://schemas.openxmlformats.org/officeDocument/2006/relationships/image" Target="../media/image_fe005f9ca27ae679.png"/>
  <Relationship Id="rId7" Type="http://schemas.openxmlformats.org/officeDocument/2006/relationships/image" Target="../media/image_8d6911423426f3d4.png"/>
  <Relationship Id="rId8" Type="http://schemas.openxmlformats.org/officeDocument/2006/relationships/image" Target="../media/image_25262cbdd474ca64.png"/>
  <Relationship Id="rId9" Type="http://schemas.openxmlformats.org/officeDocument/2006/relationships/image" Target="../media/image_9752f21fc76aac74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d24d9741aa3dfb5.png"/>
  <Relationship Id="rId3" Type="http://schemas.openxmlformats.org/officeDocument/2006/relationships/image" Target="../media/image_c3eab162470c2e08.png"/>
  <Relationship Id="rId4" Type="http://schemas.openxmlformats.org/officeDocument/2006/relationships/image" Target="../media/image_02adce0beab2d40f.png"/>
  <Relationship Id="rId5" Type="http://schemas.openxmlformats.org/officeDocument/2006/relationships/image" Target="../media/image_b89581d35ad1c749.png"/>
  <Relationship Id="rId6" Type="http://schemas.openxmlformats.org/officeDocument/2006/relationships/image" Target="../media/image_fe005f9ca27ae679.png"/>
  <Relationship Id="rId7" Type="http://schemas.openxmlformats.org/officeDocument/2006/relationships/image" Target="../media/image_8d6911423426f3d4.png"/>
  <Relationship Id="rId8" Type="http://schemas.openxmlformats.org/officeDocument/2006/relationships/image" Target="../media/image_25262cbdd474ca64.png"/>
  <Relationship Id="rId9" Type="http://schemas.openxmlformats.org/officeDocument/2006/relationships/image" Target="../media/image_9752f21fc76aac74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5715000" cy="1123950"/>
            <a:chOff x="0" y="0"/>
            <a:chExt cx="5715000" cy="11239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571500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100" y="504825"/>
              <a:ext cx="419100" cy="20002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947738" y="3886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동탄역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3737" y="575786"/>
              <a:ext cx="196054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이편한세상 어반원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0050" y="3429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92274" y="43624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C14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3418" y="842962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75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입주예정자협의회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19100" y="11144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00050" y="1459706"/>
            <a:ext cx="3752850" cy="2650237"/>
            <a:chOff x="400050" y="1459706"/>
            <a:chExt cx="3752850" cy="2650237"/>
          </a:xfrm>
        </p:grpSpPr>
        <p:sp>
          <p:nvSpPr>
            <p:cNvPr id="11" name="Rectangle 11"/>
            <p:cNvSpPr/>
            <p:nvPr/>
          </p:nvSpPr>
          <p:spPr>
            <a:xfrm>
              <a:off x="419100" y="1476375"/>
              <a:ext cx="5715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260" y="1459706"/>
              <a:ext cx="1641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AE551A"/>
                  </a:solidFill>
                  <a:latin typeface="Segoe UI"/>
                  <a:ea typeface="Microsoft YaHei"/>
                  <a:cs typeface="Segoe UI"/>
                </a:rPr>
                <a:t>LG 시스템에어컨 안내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0050" y="1895475"/>
              <a:ext cx="3752850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400"/>
                </a:lnSpc>
              </a:pP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계약 전, </a:t>
              </a: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>꼭 확인하세요.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1099" y="3487579"/>
              <a:ext cx="2231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설치 조건과 납부 일정,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1099" y="3801904"/>
              <a:ext cx="30797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계약 전에 차근차근 확인하세요.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8051" y="4276725"/>
            <a:ext cx="4887849" cy="1933575"/>
            <a:chOff x="408051" y="4276725"/>
            <a:chExt cx="4887849" cy="1933575"/>
          </a:xfrm>
        </p:grpSpPr>
        <p:sp>
          <p:nvSpPr>
            <p:cNvPr id="17" name="Line 17"/>
            <p:cNvSpPr/>
            <p:nvPr/>
          </p:nvSpPr>
          <p:spPr>
            <a:xfrm>
              <a:off x="419100" y="42767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4147" y="4657249"/>
              <a:ext cx="1787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AE551A"/>
                  </a:solidFill>
                  <a:latin typeface="Segoe UI"/>
                  <a:ea typeface="Microsoft YaHei"/>
                  <a:cs typeface="Segoe UI"/>
                </a:rPr>
                <a:t>모델 · 설치 조건 · 납부 일정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8051" y="4956334"/>
              <a:ext cx="219572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8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에어컨 상세정보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3004" y="5394960"/>
              <a:ext cx="2458212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 xml:space="preserve">휴대폰 카메라로 비추면 </a:t>
              </a:r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자세한 안내를 바로 볼 수 있습니다.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1900" y="4476750"/>
              <a:ext cx="1524000" cy="1524000"/>
            </a:xfrm>
            <a:prstGeom prst="rect">
              <a:avLst/>
            </a:prstGeom>
          </p:spPr>
        </p:pic>
        <p:sp>
          <p:nvSpPr>
            <p:cNvPr id="22" name="Line 22"/>
            <p:cNvSpPr/>
            <p:nvPr/>
          </p:nvSpPr>
          <p:spPr>
            <a:xfrm>
              <a:off x="419100" y="620077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409194" y="6571298"/>
            <a:ext cx="4891468" cy="3134677"/>
            <a:chOff x="409194" y="6571298"/>
            <a:chExt cx="4891468" cy="3134677"/>
          </a:xfrm>
        </p:grpSpPr>
        <p:sp>
          <p:nvSpPr>
            <p:cNvPr id="24" name="TextBox 24"/>
            <p:cNvSpPr txBox="1"/>
            <p:nvPr/>
          </p:nvSpPr>
          <p:spPr>
            <a:xfrm>
              <a:off x="409194" y="6571298"/>
              <a:ext cx="20338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계약 전 확인사항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33989" y="6675120"/>
              <a:ext cx="966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세 가지 핵심 안내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3004" y="72332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437" y="7176611"/>
              <a:ext cx="20778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2대 또는 전실 설치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104" y="7595235"/>
              <a:ext cx="2184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설치 범위를 먼저 확인하세요.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19100" y="787717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13004" y="8138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437" y="8081486"/>
              <a:ext cx="290131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spc="-4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일반형·프리미엄형 중 선택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104" y="8500110"/>
              <a:ext cx="3138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타 브랜드 변경 및 혼합 선택은 불가합니다.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19100" y="87820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13004" y="90430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9437" y="8986361"/>
              <a:ext cx="291910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스탠드형은 개별 공사 필요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104" y="9404985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시스템에어컨 배관으로 설치됩니다.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19100" y="969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409194" y="10047922"/>
            <a:ext cx="4891468" cy="2013585"/>
            <a:chOff x="409194" y="10047922"/>
            <a:chExt cx="4891468" cy="2013585"/>
          </a:xfrm>
        </p:grpSpPr>
        <p:sp>
          <p:nvSpPr>
            <p:cNvPr id="39" name="TextBox 39"/>
            <p:cNvSpPr txBox="1"/>
            <p:nvPr/>
          </p:nvSpPr>
          <p:spPr>
            <a:xfrm>
              <a:off x="409194" y="10047922"/>
              <a:ext cx="2106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결제 및 납부 일정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67531" y="10151745"/>
              <a:ext cx="1433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제공받은 안내 기준 · 예정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19100" y="10458450"/>
              <a:ext cx="4876800" cy="1009650"/>
            </a:xfrm>
            <a:prstGeom prst="rect">
              <a:avLst/>
            </a:prstGeom>
            <a:solidFill>
              <a:srgbClr val="F2F6F5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2047875" y="106299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3676650" y="106299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7497" y="10629424"/>
              <a:ext cx="40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계약금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176272" y="10629424"/>
              <a:ext cx="40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중도금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05047" y="10629424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잔금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4449" y="10898029"/>
              <a:ext cx="9733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계약 당일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73224" y="10898029"/>
              <a:ext cx="139240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spc="-52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2026.11.30경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01999" y="10898029"/>
              <a:ext cx="10462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spc="-52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2028.05경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7688" y="11207591"/>
              <a:ext cx="7425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당일 송금 안내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176462" y="11207591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정확한 날짜 재확인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05238" y="11207591"/>
              <a:ext cx="7425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최종 일정 확인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4147" y="11658124"/>
              <a:ext cx="3717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현금결제만 가능 · 현금영수증 발급 불가로 안내받았습니다.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14338" y="11885295"/>
              <a:ext cx="47225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증빙 발급 여부·납부일·모델·적용 평형은 계약서 및 계약처의 최종 안내를 확인하세요.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0" y="12820650"/>
            <a:ext cx="5715000" cy="3543300"/>
            <a:chOff x="0" y="12820650"/>
            <a:chExt cx="5715000" cy="3543300"/>
          </a:xfrm>
        </p:grpSpPr>
        <p:sp>
          <p:nvSpPr>
            <p:cNvPr id="56" name="Rectangle 56"/>
            <p:cNvSpPr/>
            <p:nvPr/>
          </p:nvSpPr>
          <p:spPr>
            <a:xfrm>
              <a:off x="0" y="12820650"/>
              <a:ext cx="5715000" cy="3543300"/>
            </a:xfrm>
            <a:prstGeom prst="rect">
              <a:avLst/>
            </a:prstGeom>
            <a:solidFill>
              <a:srgbClr val="F5F7F6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0" y="128206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71856" y="13016865"/>
              <a:ext cx="2914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입주 소식도 함께 나누세요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32796" y="13122116"/>
              <a:ext cx="14059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카메라로 QR을 비춰주세요</a:t>
              </a:r>
            </a:p>
          </p:txBody>
        </p:sp>
        <p:pic>
          <p:nvPicPr>
            <p:cNvPr id="60" name="Image 6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" y="13506450"/>
              <a:ext cx="1524000" cy="1524000"/>
            </a:xfrm>
            <a:prstGeom prst="rect">
              <a:avLst/>
            </a:prstGeom>
          </p:spPr>
        </p:pic>
        <p:pic>
          <p:nvPicPr>
            <p:cNvPr id="61" name="Image 6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95500" y="13506450"/>
              <a:ext cx="1524000" cy="1524000"/>
            </a:xfrm>
            <a:prstGeom prst="rect">
              <a:avLst/>
            </a:prstGeom>
          </p:spPr>
        </p:pic>
        <p:pic>
          <p:nvPicPr>
            <p:cNvPr id="62" name="Image 6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10000" y="13506450"/>
              <a:ext cx="1524000" cy="1524000"/>
            </a:xfrm>
            <a:prstGeom prst="rect">
              <a:avLst/>
            </a:prstGeom>
          </p:spPr>
        </p:pic>
        <p:pic>
          <p:nvPicPr>
            <p:cNvPr id="63" name="Image 6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9552" y="15116175"/>
              <a:ext cx="506896" cy="514350"/>
            </a:xfrm>
            <a:prstGeom prst="rect">
              <a:avLst/>
            </a:prstGeom>
          </p:spPr>
        </p:pic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00325" y="15116175"/>
              <a:ext cx="514350" cy="514350"/>
            </a:xfrm>
            <a:prstGeom prst="rect">
              <a:avLst/>
            </a:prstGeom>
          </p:spPr>
        </p:pic>
        <p:pic>
          <p:nvPicPr>
            <p:cNvPr id="65" name="Image 6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43338" y="15211425"/>
              <a:ext cx="1457325" cy="323850"/>
            </a:xfrm>
            <a:prstGeom prst="rect">
              <a:avLst/>
            </a:prstGeom>
          </p:spPr>
        </p:pic>
        <p:sp>
          <p:nvSpPr>
            <p:cNvPr id="66" name="TextBox 66"/>
            <p:cNvSpPr txBox="1"/>
            <p:nvPr/>
          </p:nvSpPr>
          <p:spPr>
            <a:xfrm>
              <a:off x="754494" y="15732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카카오톡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344959" y="15732442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네이버 카페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183494" y="15732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홈페이지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0673" y="16008191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소식과 의견 나누기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319642" y="16008191"/>
              <a:ext cx="1075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공지와 자료 모아보기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089673" y="16008191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 정보 확인하기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0" y="16363950"/>
            <a:ext cx="5715000" cy="781050"/>
            <a:chOff x="0" y="16363950"/>
            <a:chExt cx="5715000" cy="781050"/>
          </a:xfrm>
        </p:grpSpPr>
        <p:sp>
          <p:nvSpPr>
            <p:cNvPr id="73" name="Rectangle 73"/>
            <p:cNvSpPr/>
            <p:nvPr/>
          </p:nvSpPr>
          <p:spPr>
            <a:xfrm>
              <a:off x="0" y="16363950"/>
              <a:ext cx="5715000" cy="781050"/>
            </a:xfrm>
            <a:prstGeom prst="rect">
              <a:avLst/>
            </a:prstGeom>
            <a:solidFill>
              <a:srgbClr val="10344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11099" y="16670179"/>
              <a:ext cx="20864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c14.ai-hub-os.com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155281" y="16653034"/>
              <a:ext cx="1145381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r">
                <a:lnSpc>
                  <a:spcPts val="1125"/>
                </a:lnSpc>
              </a:pPr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 xml:space="preserve">C14 입주예정자협의회 안내물 </a:t>
              </a:r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LH 공식 안내물과 별개입니다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5715000" cy="1123950"/>
            <a:chOff x="0" y="0"/>
            <a:chExt cx="5715000" cy="11239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571500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100" y="504825"/>
              <a:ext cx="419100" cy="20002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947738" y="3886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동탄역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3737" y="575786"/>
              <a:ext cx="196054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이편한세상 어반원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0050" y="3429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92274" y="43624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C14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3418" y="842962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75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입주예정자협의회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19100" y="11144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00050" y="1459706"/>
            <a:ext cx="4295775" cy="2650237"/>
            <a:chOff x="400050" y="1459706"/>
            <a:chExt cx="4295775" cy="2650237"/>
          </a:xfrm>
        </p:grpSpPr>
        <p:sp>
          <p:nvSpPr>
            <p:cNvPr id="11" name="Rectangle 11"/>
            <p:cNvSpPr/>
            <p:nvPr/>
          </p:nvSpPr>
          <p:spPr>
            <a:xfrm>
              <a:off x="419100" y="1476375"/>
              <a:ext cx="5715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260" y="1459706"/>
              <a:ext cx="2170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AE551A"/>
                  </a:solidFill>
                  <a:latin typeface="Segoe UI"/>
                  <a:ea typeface="Microsoft YaHei"/>
                  <a:cs typeface="Segoe UI"/>
                </a:rPr>
                <a:t>LG 시스템에어컨 · 설치 안내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0050" y="1895475"/>
              <a:ext cx="4295775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400"/>
                </a:lnSpc>
              </a:pP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설치 조건을 </a:t>
              </a: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>먼저 확인하세요.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1099" y="3487579"/>
              <a:ext cx="2906363" cy="6223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75"/>
                </a:lnSpc>
              </a:pPr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 xml:space="preserve">우리 집에 맞는 선택을 위해 </a:t>
              </a:r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설치 범위와 모델을 살펴보세요.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8051" y="4276725"/>
            <a:ext cx="4887849" cy="1933575"/>
            <a:chOff x="408051" y="4276725"/>
            <a:chExt cx="4887849" cy="1933575"/>
          </a:xfrm>
        </p:grpSpPr>
        <p:sp>
          <p:nvSpPr>
            <p:cNvPr id="16" name="Line 16"/>
            <p:cNvSpPr/>
            <p:nvPr/>
          </p:nvSpPr>
          <p:spPr>
            <a:xfrm>
              <a:off x="419100" y="42767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4147" y="4657249"/>
              <a:ext cx="1787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AE551A"/>
                  </a:solidFill>
                  <a:latin typeface="Segoe UI"/>
                  <a:ea typeface="Microsoft YaHei"/>
                  <a:cs typeface="Segoe UI"/>
                </a:rPr>
                <a:t>모델 · 설치 조건 · 납부 일정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8051" y="4956334"/>
              <a:ext cx="219572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8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에어컨 상세정보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3004" y="5394960"/>
              <a:ext cx="2458212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 xml:space="preserve">휴대폰 카메라로 비추면 </a:t>
              </a:r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자세한 안내를 바로 볼 수 있습니다.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1900" y="4476750"/>
              <a:ext cx="1524000" cy="1524000"/>
            </a:xfrm>
            <a:prstGeom prst="rect">
              <a:avLst/>
            </a:prstGeom>
          </p:spPr>
        </p:pic>
        <p:sp>
          <p:nvSpPr>
            <p:cNvPr id="21" name="Line 21"/>
            <p:cNvSpPr/>
            <p:nvPr/>
          </p:nvSpPr>
          <p:spPr>
            <a:xfrm>
              <a:off x="419100" y="620077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09194" y="6571298"/>
            <a:ext cx="4891468" cy="3134677"/>
            <a:chOff x="409194" y="6571298"/>
            <a:chExt cx="4891468" cy="3134677"/>
          </a:xfrm>
        </p:grpSpPr>
        <p:sp>
          <p:nvSpPr>
            <p:cNvPr id="23" name="TextBox 23"/>
            <p:cNvSpPr txBox="1"/>
            <p:nvPr/>
          </p:nvSpPr>
          <p:spPr>
            <a:xfrm>
              <a:off x="409194" y="6571298"/>
              <a:ext cx="20338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계약 전 확인사항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33989" y="6675120"/>
              <a:ext cx="966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세 가지 핵심 안내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3004" y="72332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437" y="7176611"/>
              <a:ext cx="20778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2대 또는 전실 설치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104" y="7595235"/>
              <a:ext cx="2184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설치 범위를 먼저 확인하세요.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19100" y="787717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13004" y="8138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437" y="8081486"/>
              <a:ext cx="290131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spc="-4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일반형·프리미엄형 중 선택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104" y="8500110"/>
              <a:ext cx="3138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타 브랜드 변경 및 혼합 선택은 불가합니다.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19100" y="87820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13004" y="90430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437" y="8986361"/>
              <a:ext cx="291910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스탠드형은 개별 공사 필요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104" y="9404985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시스템에어컨 배관으로 설치됩니다.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19100" y="969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409194" y="10047922"/>
            <a:ext cx="4891468" cy="2013585"/>
            <a:chOff x="409194" y="10047922"/>
            <a:chExt cx="4891468" cy="2013585"/>
          </a:xfrm>
        </p:grpSpPr>
        <p:sp>
          <p:nvSpPr>
            <p:cNvPr id="38" name="TextBox 38"/>
            <p:cNvSpPr txBox="1"/>
            <p:nvPr/>
          </p:nvSpPr>
          <p:spPr>
            <a:xfrm>
              <a:off x="409194" y="10047922"/>
              <a:ext cx="2106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결제 및 납부 일정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67531" y="10151745"/>
              <a:ext cx="1433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제공받은 안내 기준 · 예정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9100" y="10458450"/>
              <a:ext cx="4876800" cy="1009650"/>
            </a:xfrm>
            <a:prstGeom prst="rect">
              <a:avLst/>
            </a:prstGeom>
            <a:solidFill>
              <a:srgbClr val="F2F6F5"/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2047875" y="106299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676650" y="106299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7497" y="10629424"/>
              <a:ext cx="40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계약금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76272" y="10629424"/>
              <a:ext cx="40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중도금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05047" y="10629424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잔금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4449" y="10898029"/>
              <a:ext cx="9733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계약 당일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173224" y="10898029"/>
              <a:ext cx="139240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spc="-52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2026.11.30경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01999" y="10898029"/>
              <a:ext cx="10462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spc="-52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2028.05경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7688" y="11207591"/>
              <a:ext cx="7425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당일 송금 안내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76462" y="11207591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정확한 날짜 재확인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805238" y="11207591"/>
              <a:ext cx="7425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최종 일정 확인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14147" y="11658124"/>
              <a:ext cx="3717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현금결제만 가능 · 현금영수증 발급 불가로 안내받았습니다.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4338" y="11885295"/>
              <a:ext cx="47225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증빙 발급 여부·납부일·모델·적용 평형은 계약서 및 계약처의 최종 안내를 확인하세요.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0" y="12820650"/>
            <a:ext cx="5715000" cy="3543300"/>
            <a:chOff x="0" y="12820650"/>
            <a:chExt cx="5715000" cy="3543300"/>
          </a:xfrm>
        </p:grpSpPr>
        <p:sp>
          <p:nvSpPr>
            <p:cNvPr id="55" name="Rectangle 55"/>
            <p:cNvSpPr/>
            <p:nvPr/>
          </p:nvSpPr>
          <p:spPr>
            <a:xfrm>
              <a:off x="0" y="12820650"/>
              <a:ext cx="5715000" cy="3543300"/>
            </a:xfrm>
            <a:prstGeom prst="rect">
              <a:avLst/>
            </a:prstGeom>
            <a:solidFill>
              <a:srgbClr val="F5F7F6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0" y="128206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71856" y="13016865"/>
              <a:ext cx="2914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입주 소식도 함께 나누세요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932796" y="13122116"/>
              <a:ext cx="14059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카메라로 QR을 비춰주세요</a:t>
              </a:r>
            </a:p>
          </p:txBody>
        </p:sp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" y="13506450"/>
              <a:ext cx="1524000" cy="1524000"/>
            </a:xfrm>
            <a:prstGeom prst="rect">
              <a:avLst/>
            </a:prstGeom>
          </p:spPr>
        </p:pic>
        <p:pic>
          <p:nvPicPr>
            <p:cNvPr id="60" name="Image 6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95500" y="13506450"/>
              <a:ext cx="1524000" cy="1524000"/>
            </a:xfrm>
            <a:prstGeom prst="rect">
              <a:avLst/>
            </a:prstGeom>
          </p:spPr>
        </p:pic>
        <p:pic>
          <p:nvPicPr>
            <p:cNvPr id="61" name="Image 6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10000" y="13506450"/>
              <a:ext cx="1524000" cy="1524000"/>
            </a:xfrm>
            <a:prstGeom prst="rect">
              <a:avLst/>
            </a:prstGeom>
          </p:spPr>
        </p:pic>
        <p:pic>
          <p:nvPicPr>
            <p:cNvPr id="62" name="Imag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9552" y="15116175"/>
              <a:ext cx="506896" cy="514350"/>
            </a:xfrm>
            <a:prstGeom prst="rect">
              <a:avLst/>
            </a:prstGeom>
          </p:spPr>
        </p:pic>
        <p:pic>
          <p:nvPicPr>
            <p:cNvPr id="63" name="Image 6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00325" y="15116175"/>
              <a:ext cx="514350" cy="514350"/>
            </a:xfrm>
            <a:prstGeom prst="rect">
              <a:avLst/>
            </a:prstGeom>
          </p:spPr>
        </p:pic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43338" y="15211425"/>
              <a:ext cx="1457325" cy="323850"/>
            </a:xfrm>
            <a:prstGeom prst="rect">
              <a:avLst/>
            </a:prstGeom>
          </p:spPr>
        </p:pic>
        <p:sp>
          <p:nvSpPr>
            <p:cNvPr id="65" name="TextBox 65"/>
            <p:cNvSpPr txBox="1"/>
            <p:nvPr/>
          </p:nvSpPr>
          <p:spPr>
            <a:xfrm>
              <a:off x="754494" y="15732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카카오톡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344959" y="15732442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네이버 카페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183494" y="15732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홈페이지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0673" y="16008191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소식과 의견 나누기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319642" y="16008191"/>
              <a:ext cx="1075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공지와 자료 모아보기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089673" y="16008191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 정보 확인하기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16363950"/>
            <a:ext cx="5715000" cy="781050"/>
            <a:chOff x="0" y="16363950"/>
            <a:chExt cx="5715000" cy="781050"/>
          </a:xfrm>
        </p:grpSpPr>
        <p:sp>
          <p:nvSpPr>
            <p:cNvPr id="72" name="Rectangle 72"/>
            <p:cNvSpPr/>
            <p:nvPr/>
          </p:nvSpPr>
          <p:spPr>
            <a:xfrm>
              <a:off x="0" y="16363950"/>
              <a:ext cx="5715000" cy="781050"/>
            </a:xfrm>
            <a:prstGeom prst="rect">
              <a:avLst/>
            </a:prstGeom>
            <a:solidFill>
              <a:srgbClr val="103442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11099" y="16670179"/>
              <a:ext cx="20864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c14.ai-hub-os.com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155281" y="16653034"/>
              <a:ext cx="1145381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r">
                <a:lnSpc>
                  <a:spcPts val="1125"/>
                </a:lnSpc>
              </a:pPr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 xml:space="preserve">C14 입주예정자협의회 안내물 </a:t>
              </a:r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LH 공식 안내물과 별개입니다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5715000" cy="1123950"/>
            <a:chOff x="0" y="0"/>
            <a:chExt cx="5715000" cy="11239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571500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100" y="504825"/>
              <a:ext cx="419100" cy="20002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947738" y="3886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동탄역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3737" y="575786"/>
              <a:ext cx="196054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이편한세상 어반원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0050" y="3429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92274" y="43624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C14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3418" y="842962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75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입주예정자협의회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19100" y="11144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00050" y="1459706"/>
            <a:ext cx="4838700" cy="2650237"/>
            <a:chOff x="400050" y="1459706"/>
            <a:chExt cx="4838700" cy="2650237"/>
          </a:xfrm>
        </p:grpSpPr>
        <p:sp>
          <p:nvSpPr>
            <p:cNvPr id="11" name="Rectangle 11"/>
            <p:cNvSpPr/>
            <p:nvPr/>
          </p:nvSpPr>
          <p:spPr>
            <a:xfrm>
              <a:off x="419100" y="1476375"/>
              <a:ext cx="5715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260" y="1459706"/>
              <a:ext cx="2170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AE551A"/>
                  </a:solidFill>
                  <a:latin typeface="Segoe UI"/>
                  <a:ea typeface="Microsoft YaHei"/>
                  <a:cs typeface="Segoe UI"/>
                </a:rPr>
                <a:t>LG 시스템에어컨 · 납부 안내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0050" y="1895475"/>
              <a:ext cx="4838700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400"/>
                </a:lnSpc>
              </a:pP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계약부터 잔금까지, </a:t>
              </a: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>일정을 확인하세요.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1099" y="3487579"/>
              <a:ext cx="29313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놓치기 쉬운 계약 조건과 일정,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1099" y="3801904"/>
              <a:ext cx="21044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한곳에서 확인하세요.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8051" y="4276725"/>
            <a:ext cx="4887849" cy="1933575"/>
            <a:chOff x="408051" y="4276725"/>
            <a:chExt cx="4887849" cy="1933575"/>
          </a:xfrm>
        </p:grpSpPr>
        <p:sp>
          <p:nvSpPr>
            <p:cNvPr id="17" name="Line 17"/>
            <p:cNvSpPr/>
            <p:nvPr/>
          </p:nvSpPr>
          <p:spPr>
            <a:xfrm>
              <a:off x="419100" y="42767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4147" y="4657249"/>
              <a:ext cx="1787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AE551A"/>
                  </a:solidFill>
                  <a:latin typeface="Segoe UI"/>
                  <a:ea typeface="Microsoft YaHei"/>
                  <a:cs typeface="Segoe UI"/>
                </a:rPr>
                <a:t>모델 · 설치 조건 · 납부 일정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8051" y="4956334"/>
              <a:ext cx="219572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8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에어컨 상세정보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3004" y="5394960"/>
              <a:ext cx="2458212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 xml:space="preserve">휴대폰 카메라로 비추면 </a:t>
              </a:r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자세한 안내를 바로 볼 수 있습니다.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1900" y="4476750"/>
              <a:ext cx="1524000" cy="1524000"/>
            </a:xfrm>
            <a:prstGeom prst="rect">
              <a:avLst/>
            </a:prstGeom>
          </p:spPr>
        </p:pic>
        <p:sp>
          <p:nvSpPr>
            <p:cNvPr id="22" name="Line 22"/>
            <p:cNvSpPr/>
            <p:nvPr/>
          </p:nvSpPr>
          <p:spPr>
            <a:xfrm>
              <a:off x="419100" y="620077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409194" y="6561772"/>
            <a:ext cx="4891468" cy="2013585"/>
            <a:chOff x="409194" y="6561772"/>
            <a:chExt cx="4891468" cy="2013585"/>
          </a:xfrm>
        </p:grpSpPr>
        <p:sp>
          <p:nvSpPr>
            <p:cNvPr id="24" name="TextBox 24"/>
            <p:cNvSpPr txBox="1"/>
            <p:nvPr/>
          </p:nvSpPr>
          <p:spPr>
            <a:xfrm>
              <a:off x="409194" y="6561772"/>
              <a:ext cx="2106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결제 및 납부 일정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67531" y="6665595"/>
              <a:ext cx="1433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제공받은 안내 기준 · 예정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9100" y="6972300"/>
              <a:ext cx="4876800" cy="1009650"/>
            </a:xfrm>
            <a:prstGeom prst="rect">
              <a:avLst/>
            </a:prstGeom>
            <a:solidFill>
              <a:srgbClr val="F2F6F5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2047875" y="7143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676650" y="7143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7497" y="7143274"/>
              <a:ext cx="40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계약금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76272" y="7143274"/>
              <a:ext cx="40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중도금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05047" y="7143274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잔금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4449" y="7411879"/>
              <a:ext cx="9733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계약 당일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73224" y="7411879"/>
              <a:ext cx="139240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spc="-52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2026.11.30경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01999" y="7411879"/>
              <a:ext cx="10462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spc="-52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2028.05경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7688" y="7721441"/>
              <a:ext cx="7425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당일 송금 안내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76462" y="7721441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정확한 날짜 재확인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05238" y="7721441"/>
              <a:ext cx="7425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최종 일정 확인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4147" y="8171974"/>
              <a:ext cx="3717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현금결제만 가능 · 현금영수증 발급 불가로 안내받았습니다.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4338" y="8399145"/>
              <a:ext cx="47225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증빙 발급 여부·납부일·모델·적용 평형은 계약서 및 계약처의 최종 안내를 확인하세요.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09194" y="8914448"/>
            <a:ext cx="4891468" cy="3134677"/>
            <a:chOff x="409194" y="8914448"/>
            <a:chExt cx="4891468" cy="3134677"/>
          </a:xfrm>
        </p:grpSpPr>
        <p:sp>
          <p:nvSpPr>
            <p:cNvPr id="41" name="TextBox 41"/>
            <p:cNvSpPr txBox="1"/>
            <p:nvPr/>
          </p:nvSpPr>
          <p:spPr>
            <a:xfrm>
              <a:off x="409194" y="8914448"/>
              <a:ext cx="20338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계약 전 확인사항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33989" y="9018270"/>
              <a:ext cx="966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세 가지 핵심 안내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13004" y="95764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9437" y="9519761"/>
              <a:ext cx="20778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2대 또는 전실 설치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104" y="9938385"/>
              <a:ext cx="2184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설치 범위를 먼저 확인하세요.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19100" y="102203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3004" y="104813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9437" y="10424636"/>
              <a:ext cx="290131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spc="-4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일반형·프리미엄형 중 선택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2104" y="10843260"/>
              <a:ext cx="3138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타 브랜드 변경 및 혼합 선택은 불가합니다.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419100" y="111252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13004" y="113861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9437" y="11329511"/>
              <a:ext cx="291910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스탠드형은 개별 공사 필요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2104" y="11748135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시스템에어컨 배관으로 설치됩니다.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19100" y="120396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0" y="12820650"/>
            <a:ext cx="5715000" cy="3543300"/>
            <a:chOff x="0" y="12820650"/>
            <a:chExt cx="5715000" cy="3543300"/>
          </a:xfrm>
        </p:grpSpPr>
        <p:sp>
          <p:nvSpPr>
            <p:cNvPr id="56" name="Rectangle 56"/>
            <p:cNvSpPr/>
            <p:nvPr/>
          </p:nvSpPr>
          <p:spPr>
            <a:xfrm>
              <a:off x="0" y="12820650"/>
              <a:ext cx="5715000" cy="3543300"/>
            </a:xfrm>
            <a:prstGeom prst="rect">
              <a:avLst/>
            </a:prstGeom>
            <a:solidFill>
              <a:srgbClr val="F5F7F6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0" y="128206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71856" y="13016865"/>
              <a:ext cx="2914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입주 소식도 함께 나누세요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32796" y="13122116"/>
              <a:ext cx="14059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카메라로 QR을 비춰주세요</a:t>
              </a:r>
            </a:p>
          </p:txBody>
        </p:sp>
        <p:pic>
          <p:nvPicPr>
            <p:cNvPr id="60" name="Image 6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" y="13506450"/>
              <a:ext cx="1524000" cy="1524000"/>
            </a:xfrm>
            <a:prstGeom prst="rect">
              <a:avLst/>
            </a:prstGeom>
          </p:spPr>
        </p:pic>
        <p:pic>
          <p:nvPicPr>
            <p:cNvPr id="61" name="Image 6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95500" y="13506450"/>
              <a:ext cx="1524000" cy="1524000"/>
            </a:xfrm>
            <a:prstGeom prst="rect">
              <a:avLst/>
            </a:prstGeom>
          </p:spPr>
        </p:pic>
        <p:pic>
          <p:nvPicPr>
            <p:cNvPr id="62" name="Image 6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10000" y="13506450"/>
              <a:ext cx="1524000" cy="1524000"/>
            </a:xfrm>
            <a:prstGeom prst="rect">
              <a:avLst/>
            </a:prstGeom>
          </p:spPr>
        </p:pic>
        <p:pic>
          <p:nvPicPr>
            <p:cNvPr id="63" name="Image 6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9552" y="15116175"/>
              <a:ext cx="506896" cy="514350"/>
            </a:xfrm>
            <a:prstGeom prst="rect">
              <a:avLst/>
            </a:prstGeom>
          </p:spPr>
        </p:pic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00325" y="15116175"/>
              <a:ext cx="514350" cy="514350"/>
            </a:xfrm>
            <a:prstGeom prst="rect">
              <a:avLst/>
            </a:prstGeom>
          </p:spPr>
        </p:pic>
        <p:pic>
          <p:nvPicPr>
            <p:cNvPr id="65" name="Image 6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43338" y="15211425"/>
              <a:ext cx="1457325" cy="323850"/>
            </a:xfrm>
            <a:prstGeom prst="rect">
              <a:avLst/>
            </a:prstGeom>
          </p:spPr>
        </p:pic>
        <p:sp>
          <p:nvSpPr>
            <p:cNvPr id="66" name="TextBox 66"/>
            <p:cNvSpPr txBox="1"/>
            <p:nvPr/>
          </p:nvSpPr>
          <p:spPr>
            <a:xfrm>
              <a:off x="754494" y="15732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카카오톡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344959" y="15732442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네이버 카페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183494" y="157324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홈페이지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0673" y="16008191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소식과 의견 나누기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319642" y="16008191"/>
              <a:ext cx="1075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공지와 자료 모아보기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089673" y="16008191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 정보 확인하기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0" y="16363950"/>
            <a:ext cx="5715000" cy="781050"/>
            <a:chOff x="0" y="16363950"/>
            <a:chExt cx="5715000" cy="781050"/>
          </a:xfrm>
        </p:grpSpPr>
        <p:sp>
          <p:nvSpPr>
            <p:cNvPr id="73" name="Rectangle 73"/>
            <p:cNvSpPr/>
            <p:nvPr/>
          </p:nvSpPr>
          <p:spPr>
            <a:xfrm>
              <a:off x="0" y="16363950"/>
              <a:ext cx="5715000" cy="781050"/>
            </a:xfrm>
            <a:prstGeom prst="rect">
              <a:avLst/>
            </a:prstGeom>
            <a:solidFill>
              <a:srgbClr val="10344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11099" y="16670179"/>
              <a:ext cx="20864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c14.ai-hub-os.com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018978" y="16653034"/>
              <a:ext cx="128168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C14 입주예정자협의회 안내물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042982" y="16795909"/>
              <a:ext cx="125768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LH 공식 안내물과 별개입니다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5715000" cy="1123950"/>
            <a:chOff x="0" y="0"/>
            <a:chExt cx="5715000" cy="11239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571500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100" y="504825"/>
              <a:ext cx="419100" cy="20002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947738" y="3886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동탄역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3737" y="575786"/>
              <a:ext cx="196054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이편한세상 어반원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0050" y="3429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92274" y="43624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C14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3418" y="842962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75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입주예정자협의회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19100" y="11144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00050" y="1459706"/>
            <a:ext cx="3752850" cy="2650237"/>
            <a:chOff x="400050" y="1459706"/>
            <a:chExt cx="3752850" cy="2650237"/>
          </a:xfrm>
        </p:grpSpPr>
        <p:sp>
          <p:nvSpPr>
            <p:cNvPr id="11" name="Rectangle 11"/>
            <p:cNvSpPr/>
            <p:nvPr/>
          </p:nvSpPr>
          <p:spPr>
            <a:xfrm>
              <a:off x="419100" y="1476375"/>
              <a:ext cx="5715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260" y="1459706"/>
              <a:ext cx="1901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AE551A"/>
                  </a:solidFill>
                  <a:latin typeface="Segoe UI"/>
                  <a:ea typeface="Microsoft YaHei"/>
                  <a:cs typeface="Segoe UI"/>
                </a:rPr>
                <a:t>C14 입주예정자 커뮤니티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0050" y="1895475"/>
              <a:ext cx="3752850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400"/>
                </a:lnSpc>
              </a:pP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함께 만드는 </a:t>
              </a: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>우리의 어반원.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1099" y="3487579"/>
              <a:ext cx="24437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 준비에 필요한 소식,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1099" y="3801904"/>
              <a:ext cx="21680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이웃과 함께 나누세요.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09956" y="4305300"/>
            <a:ext cx="4890706" cy="3543300"/>
            <a:chOff x="409956" y="4305300"/>
            <a:chExt cx="4890706" cy="3543300"/>
          </a:xfrm>
        </p:grpSpPr>
        <p:sp>
          <p:nvSpPr>
            <p:cNvPr id="17" name="Line 17"/>
            <p:cNvSpPr/>
            <p:nvPr/>
          </p:nvSpPr>
          <p:spPr>
            <a:xfrm>
              <a:off x="419100" y="43053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9956" y="4587240"/>
              <a:ext cx="2734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지금, 이웃과 연결하세요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94696" y="4692491"/>
              <a:ext cx="14059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카메라로 QR을 비춰주세요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100" y="5000625"/>
              <a:ext cx="1524000" cy="1524000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5500" y="5000625"/>
              <a:ext cx="1524000" cy="1524000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1900" y="5000625"/>
              <a:ext cx="1524000" cy="1524000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7652" y="6610350"/>
              <a:ext cx="506896" cy="514350"/>
            </a:xfrm>
            <a:prstGeom prst="rect">
              <a:avLst/>
            </a:pr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00325" y="6610350"/>
              <a:ext cx="514350" cy="514350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05238" y="6705600"/>
              <a:ext cx="1457325" cy="32385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792594" y="724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카카오톡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44959" y="7245668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네이버 카페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45394" y="724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홈페이지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8773" y="7502366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소식과 의견 나누기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19642" y="7502366"/>
              <a:ext cx="1075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공지와 자료 모아보기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51573" y="7502366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 정보 확인하기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19100" y="783907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09194" y="8171498"/>
            <a:ext cx="4891468" cy="2848927"/>
            <a:chOff x="409194" y="8171498"/>
            <a:chExt cx="4891468" cy="2848927"/>
          </a:xfrm>
        </p:grpSpPr>
        <p:sp>
          <p:nvSpPr>
            <p:cNvPr id="34" name="TextBox 34"/>
            <p:cNvSpPr txBox="1"/>
            <p:nvPr/>
          </p:nvSpPr>
          <p:spPr>
            <a:xfrm>
              <a:off x="409194" y="8171498"/>
              <a:ext cx="20338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함께 이뤄낸 변화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43210" y="8265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입주예정자협의회 성과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3385" y="8879681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238" y="8839676"/>
              <a:ext cx="173798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시스템에어컨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1238" y="9201626"/>
              <a:ext cx="19097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옵션 설치 협의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 rot="-300000">
              <a:off x="3885326" y="8982945"/>
              <a:ext cx="1338453" cy="586740"/>
              <a:chOff x="3885326" y="8982945"/>
              <a:chExt cx="1338453" cy="58674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3885326" y="9021045"/>
                <a:ext cx="323850" cy="323850"/>
              </a:xfrm>
              <a:prstGeom prst="rect">
                <a:avLst/>
              </a:prstGeom>
              <a:noFill/>
              <a:ln w="28575">
                <a:solidFill>
                  <a:srgbClr val="10344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952001" y="8982945"/>
                <a:ext cx="3143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95275">
                    <a:moveTo>
                      <a:pt x="0" y="180975"/>
                    </a:moveTo>
                    <a:lnTo>
                      <a:pt x="104775" y="295275"/>
                    </a:lnTo>
                    <a:lnTo>
                      <a:pt x="314325" y="0"/>
                    </a:lnTo>
                  </a:path>
                </a:pathLst>
              </a:custGeom>
              <a:noFill/>
              <a:ln w="66675" cap="sq">
                <a:solidFill>
                  <a:srgbClr val="D85B17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365386" y="8982945"/>
                <a:ext cx="858393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3000" b="1" i="1" spc="-150" dirty="0">
                    <a:solidFill>
                      <a:srgbClr val="D85B17"/>
                    </a:solidFill>
                    <a:latin typeface="Pretendard Black"/>
                    <a:ea typeface="Pretendard Black"/>
                    <a:cs typeface="Pretendard Black"/>
                  </a:rPr>
                  <a:t>완료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419100" y="98012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13385" y="1008935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238" y="10049351"/>
              <a:ext cx="145175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전용모기지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1238" y="10411301"/>
              <a:ext cx="125138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원안 복구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 rot="-300000">
              <a:off x="3885326" y="10192620"/>
              <a:ext cx="1338453" cy="586740"/>
              <a:chOff x="3885326" y="10192620"/>
              <a:chExt cx="1338453" cy="58674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3885326" y="10230720"/>
                <a:ext cx="323850" cy="323850"/>
              </a:xfrm>
              <a:prstGeom prst="rect">
                <a:avLst/>
              </a:prstGeom>
              <a:noFill/>
              <a:ln w="28575">
                <a:solidFill>
                  <a:srgbClr val="10344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952001" y="10192620"/>
                <a:ext cx="3143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95275">
                    <a:moveTo>
                      <a:pt x="0" y="180975"/>
                    </a:moveTo>
                    <a:lnTo>
                      <a:pt x="104775" y="295275"/>
                    </a:lnTo>
                    <a:lnTo>
                      <a:pt x="314325" y="0"/>
                    </a:lnTo>
                  </a:path>
                </a:pathLst>
              </a:custGeom>
              <a:noFill/>
              <a:ln w="66675" cap="sq">
                <a:solidFill>
                  <a:srgbClr val="D85B17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365386" y="10192620"/>
                <a:ext cx="858393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3000" b="1" i="1" spc="-150" dirty="0">
                    <a:solidFill>
                      <a:srgbClr val="D85B17"/>
                    </a:solidFill>
                    <a:latin typeface="Pretendard Black"/>
                    <a:ea typeface="Pretendard Black"/>
                    <a:cs typeface="Pretendard Black"/>
                  </a:rPr>
                  <a:t>완료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419100" y="11010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409956" y="11369040"/>
            <a:ext cx="3381634" cy="713994"/>
            <a:chOff x="409956" y="11369040"/>
            <a:chExt cx="3381634" cy="713994"/>
          </a:xfrm>
        </p:grpSpPr>
        <p:sp>
          <p:nvSpPr>
            <p:cNvPr id="53" name="TextBox 53"/>
            <p:cNvSpPr txBox="1"/>
            <p:nvPr/>
          </p:nvSpPr>
          <p:spPr>
            <a:xfrm>
              <a:off x="409956" y="11369040"/>
              <a:ext cx="3381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 xml:space="preserve">이제, </a:t>
              </a:r>
              <a:r>
                <a:rPr lang="ko-KR" sz="18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조성원가 문제 해결</a:t>
              </a:r>
              <a:r>
                <a:rPr lang="ko-KR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에도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09956" y="11730990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우리의 힘을 모아주세요.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0" y="12239625"/>
            <a:ext cx="5715000" cy="3705225"/>
            <a:chOff x="0" y="12239625"/>
            <a:chExt cx="5715000" cy="3705225"/>
          </a:xfrm>
        </p:grpSpPr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9"/>
            <a:srcRect l="0" t="13539" r="0" b="0"/>
            <a:stretch>
              <a:fillRect/>
            </a:stretch>
          </p:blipFill>
          <p:spPr>
            <a:xfrm>
              <a:off x="0" y="12239625"/>
              <a:ext cx="5715000" cy="3467100"/>
            </a:xfrm>
            <a:prstGeom prst="rect">
              <a:avLst/>
            </a:prstGeom>
          </p:spPr>
        </p:pic>
        <p:sp>
          <p:nvSpPr>
            <p:cNvPr id="57" name="TextBox 57"/>
            <p:cNvSpPr txBox="1"/>
            <p:nvPr/>
          </p:nvSpPr>
          <p:spPr>
            <a:xfrm>
              <a:off x="414338" y="15797212"/>
              <a:ext cx="20641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75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동탄역 이편한세상 어반원 · 단지 전경 이미지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0" y="16363950"/>
            <a:ext cx="5715000" cy="781050"/>
            <a:chOff x="0" y="16363950"/>
            <a:chExt cx="5715000" cy="781050"/>
          </a:xfrm>
        </p:grpSpPr>
        <p:sp>
          <p:nvSpPr>
            <p:cNvPr id="59" name="Rectangle 59"/>
            <p:cNvSpPr/>
            <p:nvPr/>
          </p:nvSpPr>
          <p:spPr>
            <a:xfrm>
              <a:off x="0" y="16363950"/>
              <a:ext cx="5715000" cy="781050"/>
            </a:xfrm>
            <a:prstGeom prst="rect">
              <a:avLst/>
            </a:prstGeom>
            <a:solidFill>
              <a:srgbClr val="10344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11099" y="16670179"/>
              <a:ext cx="20864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c14.ai-hub-os.com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18978" y="16653034"/>
              <a:ext cx="128168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C14 입주예정자협의회 안내물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042982" y="16795909"/>
              <a:ext cx="125768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LH 공식 안내물과 별개입니다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5715000" cy="1123950"/>
            <a:chOff x="0" y="0"/>
            <a:chExt cx="5715000" cy="11239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571500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100" y="504825"/>
              <a:ext cx="419100" cy="20002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947738" y="3886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동탄역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3737" y="575786"/>
              <a:ext cx="196054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이편한세상 어반원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0050" y="3429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92274" y="43624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C14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3418" y="842962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75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입주예정자협의회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19100" y="11144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00050" y="1459706"/>
            <a:ext cx="3609975" cy="2650237"/>
            <a:chOff x="400050" y="1459706"/>
            <a:chExt cx="3609975" cy="2650237"/>
          </a:xfrm>
        </p:grpSpPr>
        <p:sp>
          <p:nvSpPr>
            <p:cNvPr id="11" name="Rectangle 11"/>
            <p:cNvSpPr/>
            <p:nvPr/>
          </p:nvSpPr>
          <p:spPr>
            <a:xfrm>
              <a:off x="419100" y="1476375"/>
              <a:ext cx="5715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260" y="1459706"/>
              <a:ext cx="1901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AE551A"/>
                  </a:solidFill>
                  <a:latin typeface="Segoe UI"/>
                  <a:ea typeface="Microsoft YaHei"/>
                  <a:cs typeface="Segoe UI"/>
                </a:rPr>
                <a:t>C14 입주예정자 커뮤니티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0050" y="1895475"/>
              <a:ext cx="3609975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400"/>
                </a:lnSpc>
              </a:pP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함께 모여 </a:t>
              </a: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>바꿔왔습니다.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1099" y="3487579"/>
              <a:ext cx="19878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입주예정자의 참여가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1099" y="3801904"/>
              <a:ext cx="2380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우리의 생활을 바꿉니다.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09956" y="4305300"/>
            <a:ext cx="4890706" cy="3543300"/>
            <a:chOff x="409956" y="4305300"/>
            <a:chExt cx="4890706" cy="3543300"/>
          </a:xfrm>
        </p:grpSpPr>
        <p:sp>
          <p:nvSpPr>
            <p:cNvPr id="17" name="Line 17"/>
            <p:cNvSpPr/>
            <p:nvPr/>
          </p:nvSpPr>
          <p:spPr>
            <a:xfrm>
              <a:off x="419100" y="43053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9956" y="4587240"/>
              <a:ext cx="2734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지금, 이웃과 연결하세요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94696" y="4692491"/>
              <a:ext cx="14059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카메라로 QR을 비춰주세요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100" y="5000625"/>
              <a:ext cx="1524000" cy="1524000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5500" y="5000625"/>
              <a:ext cx="1524000" cy="1524000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1900" y="5000625"/>
              <a:ext cx="1524000" cy="1524000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7652" y="6610350"/>
              <a:ext cx="506896" cy="514350"/>
            </a:xfrm>
            <a:prstGeom prst="rect">
              <a:avLst/>
            </a:pr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00325" y="6610350"/>
              <a:ext cx="514350" cy="514350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05238" y="6705600"/>
              <a:ext cx="1457325" cy="32385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792594" y="724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카카오톡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44959" y="7245668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네이버 카페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45394" y="724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홈페이지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8773" y="7502366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소식과 의견 나누기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19642" y="7502366"/>
              <a:ext cx="1075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공지와 자료 모아보기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51573" y="7502366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 정보 확인하기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19100" y="783907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09194" y="8171498"/>
            <a:ext cx="4891468" cy="2848927"/>
            <a:chOff x="409194" y="8171498"/>
            <a:chExt cx="4891468" cy="2848927"/>
          </a:xfrm>
        </p:grpSpPr>
        <p:sp>
          <p:nvSpPr>
            <p:cNvPr id="34" name="TextBox 34"/>
            <p:cNvSpPr txBox="1"/>
            <p:nvPr/>
          </p:nvSpPr>
          <p:spPr>
            <a:xfrm>
              <a:off x="409194" y="8171498"/>
              <a:ext cx="20338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함께 이뤄낸 변화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43210" y="8265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입주예정자협의회 성과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3385" y="8879681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238" y="8839676"/>
              <a:ext cx="173798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시스템에어컨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1238" y="9201626"/>
              <a:ext cx="19097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옵션 설치 협의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 rot="-300000">
              <a:off x="3885326" y="8982945"/>
              <a:ext cx="1338453" cy="586740"/>
              <a:chOff x="3885326" y="8982945"/>
              <a:chExt cx="1338453" cy="58674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3885326" y="9021045"/>
                <a:ext cx="323850" cy="323850"/>
              </a:xfrm>
              <a:prstGeom prst="rect">
                <a:avLst/>
              </a:prstGeom>
              <a:noFill/>
              <a:ln w="28575">
                <a:solidFill>
                  <a:srgbClr val="10344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952001" y="8982945"/>
                <a:ext cx="3143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95275">
                    <a:moveTo>
                      <a:pt x="0" y="180975"/>
                    </a:moveTo>
                    <a:lnTo>
                      <a:pt x="104775" y="295275"/>
                    </a:lnTo>
                    <a:lnTo>
                      <a:pt x="314325" y="0"/>
                    </a:lnTo>
                  </a:path>
                </a:pathLst>
              </a:custGeom>
              <a:noFill/>
              <a:ln w="66675" cap="sq">
                <a:solidFill>
                  <a:srgbClr val="D85B17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365386" y="8982945"/>
                <a:ext cx="858393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3000" b="1" i="1" spc="-150" dirty="0">
                    <a:solidFill>
                      <a:srgbClr val="D85B17"/>
                    </a:solidFill>
                    <a:latin typeface="Pretendard Black"/>
                    <a:ea typeface="Pretendard Black"/>
                    <a:cs typeface="Pretendard Black"/>
                  </a:rPr>
                  <a:t>완료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419100" y="98012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13385" y="1008935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238" y="10049351"/>
              <a:ext cx="145175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전용모기지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1238" y="10411301"/>
              <a:ext cx="125138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원안 복구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 rot="-300000">
              <a:off x="3885326" y="10192620"/>
              <a:ext cx="1338453" cy="586740"/>
              <a:chOff x="3885326" y="10192620"/>
              <a:chExt cx="1338453" cy="58674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3885326" y="10230720"/>
                <a:ext cx="323850" cy="323850"/>
              </a:xfrm>
              <a:prstGeom prst="rect">
                <a:avLst/>
              </a:prstGeom>
              <a:noFill/>
              <a:ln w="28575">
                <a:solidFill>
                  <a:srgbClr val="10344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952001" y="10192620"/>
                <a:ext cx="3143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95275">
                    <a:moveTo>
                      <a:pt x="0" y="180975"/>
                    </a:moveTo>
                    <a:lnTo>
                      <a:pt x="104775" y="295275"/>
                    </a:lnTo>
                    <a:lnTo>
                      <a:pt x="314325" y="0"/>
                    </a:lnTo>
                  </a:path>
                </a:pathLst>
              </a:custGeom>
              <a:noFill/>
              <a:ln w="66675" cap="sq">
                <a:solidFill>
                  <a:srgbClr val="D85B17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365386" y="10192620"/>
                <a:ext cx="858393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3000" b="1" i="1" spc="-150" dirty="0">
                    <a:solidFill>
                      <a:srgbClr val="D85B17"/>
                    </a:solidFill>
                    <a:latin typeface="Pretendard Black"/>
                    <a:ea typeface="Pretendard Black"/>
                    <a:cs typeface="Pretendard Black"/>
                  </a:rPr>
                  <a:t>완료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419100" y="11010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409956" y="11369040"/>
            <a:ext cx="3381634" cy="713994"/>
            <a:chOff x="409956" y="11369040"/>
            <a:chExt cx="3381634" cy="713994"/>
          </a:xfrm>
        </p:grpSpPr>
        <p:sp>
          <p:nvSpPr>
            <p:cNvPr id="53" name="TextBox 53"/>
            <p:cNvSpPr txBox="1"/>
            <p:nvPr/>
          </p:nvSpPr>
          <p:spPr>
            <a:xfrm>
              <a:off x="409956" y="11369040"/>
              <a:ext cx="3381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 xml:space="preserve">이제, </a:t>
              </a:r>
              <a:r>
                <a:rPr lang="ko-KR" sz="18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조성원가 문제 해결</a:t>
              </a:r>
              <a:r>
                <a:rPr lang="ko-KR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에도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09956" y="11730990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우리의 힘을 모아주세요.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0" y="12239625"/>
            <a:ext cx="5715000" cy="3705225"/>
            <a:chOff x="0" y="12239625"/>
            <a:chExt cx="5715000" cy="3705225"/>
          </a:xfrm>
        </p:grpSpPr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9"/>
            <a:srcRect l="0" t="13539" r="0" b="0"/>
            <a:stretch>
              <a:fillRect/>
            </a:stretch>
          </p:blipFill>
          <p:spPr>
            <a:xfrm>
              <a:off x="0" y="12239625"/>
              <a:ext cx="5715000" cy="3467100"/>
            </a:xfrm>
            <a:prstGeom prst="rect">
              <a:avLst/>
            </a:prstGeom>
          </p:spPr>
        </p:pic>
        <p:sp>
          <p:nvSpPr>
            <p:cNvPr id="57" name="TextBox 57"/>
            <p:cNvSpPr txBox="1"/>
            <p:nvPr/>
          </p:nvSpPr>
          <p:spPr>
            <a:xfrm>
              <a:off x="414338" y="15797212"/>
              <a:ext cx="20641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75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동탄역 이편한세상 어반원 · 단지 전경 이미지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0" y="16363950"/>
            <a:ext cx="5715000" cy="781050"/>
            <a:chOff x="0" y="16363950"/>
            <a:chExt cx="5715000" cy="781050"/>
          </a:xfrm>
        </p:grpSpPr>
        <p:sp>
          <p:nvSpPr>
            <p:cNvPr id="59" name="Rectangle 59"/>
            <p:cNvSpPr/>
            <p:nvPr/>
          </p:nvSpPr>
          <p:spPr>
            <a:xfrm>
              <a:off x="0" y="16363950"/>
              <a:ext cx="5715000" cy="781050"/>
            </a:xfrm>
            <a:prstGeom prst="rect">
              <a:avLst/>
            </a:prstGeom>
            <a:solidFill>
              <a:srgbClr val="10344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11099" y="16670179"/>
              <a:ext cx="20864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c14.ai-hub-os.com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18978" y="16653034"/>
              <a:ext cx="128168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C14 입주예정자협의회 안내물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042982" y="16795909"/>
              <a:ext cx="125768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LH 공식 안내물과 별개입니다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5715000" cy="1123950"/>
            <a:chOff x="0" y="0"/>
            <a:chExt cx="5715000" cy="11239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571500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100" y="504825"/>
              <a:ext cx="419100" cy="20002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947738" y="3886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동탄역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3737" y="575786"/>
              <a:ext cx="196054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이편한세상 어반원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0050" y="3429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92274" y="43624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>C14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3418" y="842962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75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입주예정자협의회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19100" y="11144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00050" y="1459706"/>
            <a:ext cx="4295775" cy="2650237"/>
            <a:chOff x="400050" y="1459706"/>
            <a:chExt cx="4295775" cy="2650237"/>
          </a:xfrm>
        </p:grpSpPr>
        <p:sp>
          <p:nvSpPr>
            <p:cNvPr id="11" name="Rectangle 11"/>
            <p:cNvSpPr/>
            <p:nvPr/>
          </p:nvSpPr>
          <p:spPr>
            <a:xfrm>
              <a:off x="419100" y="1476375"/>
              <a:ext cx="57150" cy="57150"/>
            </a:xfrm>
            <a:prstGeom prst="rect">
              <a:avLst/>
            </a:prstGeom>
            <a:solidFill>
              <a:srgbClr val="E9762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260" y="1459706"/>
              <a:ext cx="1901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AE551A"/>
                  </a:solidFill>
                  <a:latin typeface="Segoe UI"/>
                  <a:ea typeface="Microsoft YaHei"/>
                  <a:cs typeface="Segoe UI"/>
                </a:rPr>
                <a:t>C14 입주예정자 커뮤니티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0050" y="1895475"/>
              <a:ext cx="4295775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400"/>
                </a:lnSpc>
              </a:pP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정보는 나누고, </a:t>
              </a:r>
              <a:r>
                <a:rPr lang="ko-KR" sz="4500" spc="-225" dirty="0">
                  <a:solidFill>
                    <a:srgbClr val="000000"/>
                  </a:solidFill>
                  <a:latin typeface="Pretendard ExtraBold"/>
                  <a:ea typeface="Pretendard ExtraBold"/>
                  <a:cs typeface="Pretendard ExtraBold"/>
                </a:rPr>
                <a:t>목소리는 모으고.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1099" y="3487579"/>
              <a:ext cx="29313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우리 아파트 소식과 입주 준비,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1099" y="3801904"/>
              <a:ext cx="24437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함께 알고 함께 준비해요.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09956" y="4305300"/>
            <a:ext cx="4890706" cy="3543300"/>
            <a:chOff x="409956" y="4305300"/>
            <a:chExt cx="4890706" cy="3543300"/>
          </a:xfrm>
        </p:grpSpPr>
        <p:sp>
          <p:nvSpPr>
            <p:cNvPr id="17" name="Line 17"/>
            <p:cNvSpPr/>
            <p:nvPr/>
          </p:nvSpPr>
          <p:spPr>
            <a:xfrm>
              <a:off x="419100" y="43053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9956" y="4587240"/>
              <a:ext cx="2734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지금, 이웃과 연결하세요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94696" y="4692491"/>
              <a:ext cx="14059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카메라로 QR을 비춰주세요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100" y="5000625"/>
              <a:ext cx="1524000" cy="1524000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5500" y="5000625"/>
              <a:ext cx="1524000" cy="1524000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1900" y="5000625"/>
              <a:ext cx="1524000" cy="1524000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7652" y="6610350"/>
              <a:ext cx="506896" cy="514350"/>
            </a:xfrm>
            <a:prstGeom prst="rect">
              <a:avLst/>
            </a:pr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00325" y="6610350"/>
              <a:ext cx="514350" cy="514350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05238" y="6705600"/>
              <a:ext cx="1457325" cy="32385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792594" y="724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카카오톡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44959" y="7245668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네이버 카페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45394" y="724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홈페이지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8773" y="7502366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소식과 의견 나누기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19642" y="7502366"/>
              <a:ext cx="1075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공지와 자료 모아보기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51573" y="7502366"/>
              <a:ext cx="964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82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 정보 확인하기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19100" y="783907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09194" y="8171498"/>
            <a:ext cx="4891468" cy="2848927"/>
            <a:chOff x="409194" y="8171498"/>
            <a:chExt cx="4891468" cy="2848927"/>
          </a:xfrm>
        </p:grpSpPr>
        <p:sp>
          <p:nvSpPr>
            <p:cNvPr id="34" name="TextBox 34"/>
            <p:cNvSpPr txBox="1"/>
            <p:nvPr/>
          </p:nvSpPr>
          <p:spPr>
            <a:xfrm>
              <a:off x="409194" y="8171498"/>
              <a:ext cx="20338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spc="-75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함께 이뤄낸 변화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43210" y="8265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90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입주예정자협의회 성과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3385" y="8879681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238" y="8839676"/>
              <a:ext cx="173798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시스템에어컨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1238" y="9201626"/>
              <a:ext cx="19097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옵션 설치 협의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 rot="-300000">
              <a:off x="3885326" y="8982945"/>
              <a:ext cx="1338453" cy="586740"/>
              <a:chOff x="3885326" y="8982945"/>
              <a:chExt cx="1338453" cy="58674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3885326" y="9021045"/>
                <a:ext cx="323850" cy="323850"/>
              </a:xfrm>
              <a:prstGeom prst="rect">
                <a:avLst/>
              </a:prstGeom>
              <a:noFill/>
              <a:ln w="28575">
                <a:solidFill>
                  <a:srgbClr val="10344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952001" y="8982945"/>
                <a:ext cx="3143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95275">
                    <a:moveTo>
                      <a:pt x="0" y="180975"/>
                    </a:moveTo>
                    <a:lnTo>
                      <a:pt x="104775" y="295275"/>
                    </a:lnTo>
                    <a:lnTo>
                      <a:pt x="314325" y="0"/>
                    </a:lnTo>
                  </a:path>
                </a:pathLst>
              </a:custGeom>
              <a:noFill/>
              <a:ln w="66675" cap="sq">
                <a:solidFill>
                  <a:srgbClr val="D85B17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365386" y="8982945"/>
                <a:ext cx="858393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3000" b="1" i="1" spc="-150" dirty="0">
                    <a:solidFill>
                      <a:srgbClr val="D85B17"/>
                    </a:solidFill>
                    <a:latin typeface="Pretendard Black"/>
                    <a:ea typeface="Pretendard Black"/>
                    <a:cs typeface="Pretendard Black"/>
                  </a:rPr>
                  <a:t>완료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419100" y="980122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13385" y="1008935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4673C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238" y="10049351"/>
              <a:ext cx="145175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전용모기지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1238" y="10411301"/>
              <a:ext cx="125138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원안 복구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 rot="-300000">
              <a:off x="3885326" y="10192620"/>
              <a:ext cx="1338453" cy="586740"/>
              <a:chOff x="3885326" y="10192620"/>
              <a:chExt cx="1338453" cy="58674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3885326" y="10230720"/>
                <a:ext cx="323850" cy="323850"/>
              </a:xfrm>
              <a:prstGeom prst="rect">
                <a:avLst/>
              </a:prstGeom>
              <a:noFill/>
              <a:ln w="28575">
                <a:solidFill>
                  <a:srgbClr val="10344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952001" y="10192620"/>
                <a:ext cx="3143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95275">
                    <a:moveTo>
                      <a:pt x="0" y="180975"/>
                    </a:moveTo>
                    <a:lnTo>
                      <a:pt x="104775" y="295275"/>
                    </a:lnTo>
                    <a:lnTo>
                      <a:pt x="314325" y="0"/>
                    </a:lnTo>
                  </a:path>
                </a:pathLst>
              </a:custGeom>
              <a:noFill/>
              <a:ln w="66675" cap="sq">
                <a:solidFill>
                  <a:srgbClr val="D85B17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365386" y="10192620"/>
                <a:ext cx="858393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3000" b="1" i="1" spc="-150" dirty="0">
                    <a:solidFill>
                      <a:srgbClr val="D85B17"/>
                    </a:solidFill>
                    <a:latin typeface="Pretendard Black"/>
                    <a:ea typeface="Pretendard Black"/>
                    <a:cs typeface="Pretendard Black"/>
                  </a:rPr>
                  <a:t>완료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419100" y="11010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0E1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409956" y="11369040"/>
            <a:ext cx="3381634" cy="713994"/>
            <a:chOff x="409956" y="11369040"/>
            <a:chExt cx="3381634" cy="713994"/>
          </a:xfrm>
        </p:grpSpPr>
        <p:sp>
          <p:nvSpPr>
            <p:cNvPr id="53" name="TextBox 53"/>
            <p:cNvSpPr txBox="1"/>
            <p:nvPr/>
          </p:nvSpPr>
          <p:spPr>
            <a:xfrm>
              <a:off x="409956" y="11369040"/>
              <a:ext cx="3381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 xml:space="preserve">이제, </a:t>
              </a:r>
              <a:r>
                <a:rPr lang="ko-KR" sz="18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조성원가 문제 해결</a:t>
              </a:r>
              <a:r>
                <a:rPr lang="ko-KR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에도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09956" y="11730990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우리의 힘을 모아주세요.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0" y="12239625"/>
            <a:ext cx="5715000" cy="3705225"/>
            <a:chOff x="0" y="12239625"/>
            <a:chExt cx="5715000" cy="3705225"/>
          </a:xfrm>
        </p:grpSpPr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9"/>
            <a:srcRect l="0" t="13539" r="0" b="0"/>
            <a:stretch>
              <a:fillRect/>
            </a:stretch>
          </p:blipFill>
          <p:spPr>
            <a:xfrm>
              <a:off x="0" y="12239625"/>
              <a:ext cx="5715000" cy="3467100"/>
            </a:xfrm>
            <a:prstGeom prst="rect">
              <a:avLst/>
            </a:prstGeom>
          </p:spPr>
        </p:pic>
        <p:sp>
          <p:nvSpPr>
            <p:cNvPr id="57" name="TextBox 57"/>
            <p:cNvSpPr txBox="1"/>
            <p:nvPr/>
          </p:nvSpPr>
          <p:spPr>
            <a:xfrm>
              <a:off x="414338" y="15797212"/>
              <a:ext cx="20641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750" dirty="0">
                  <a:solidFill>
                    <a:srgbClr val="667981"/>
                  </a:solidFill>
                  <a:latin typeface="Segoe UI"/>
                  <a:ea typeface="Microsoft YaHei"/>
                  <a:cs typeface="Segoe UI"/>
                </a:rPr>
                <a:t>동탄역 이편한세상 어반원 · 단지 전경 이미지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0" y="16363950"/>
            <a:ext cx="5715000" cy="781050"/>
            <a:chOff x="0" y="16363950"/>
            <a:chExt cx="5715000" cy="781050"/>
          </a:xfrm>
        </p:grpSpPr>
        <p:sp>
          <p:nvSpPr>
            <p:cNvPr id="59" name="Rectangle 59"/>
            <p:cNvSpPr/>
            <p:nvPr/>
          </p:nvSpPr>
          <p:spPr>
            <a:xfrm>
              <a:off x="0" y="16363950"/>
              <a:ext cx="5715000" cy="781050"/>
            </a:xfrm>
            <a:prstGeom prst="rect">
              <a:avLst/>
            </a:prstGeom>
            <a:solidFill>
              <a:srgbClr val="10344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11099" y="16670179"/>
              <a:ext cx="20864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c14.ai-hub-os.com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18978" y="16653034"/>
              <a:ext cx="128168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C14 입주예정자협의회 안내물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042982" y="16795909"/>
              <a:ext cx="125768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680" dirty="0">
                  <a:solidFill>
                    <a:srgbClr val="C8D3D5"/>
                  </a:solidFill>
                  <a:latin typeface="Segoe UI"/>
                  <a:ea typeface="Microsoft YaHei"/>
                  <a:cs typeface="Segoe UI"/>
                </a:rPr>
                <a:t>LH 공식 안내물과 별개입니다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2026-09-08T08:39:47Z</dcterms:created>
  <dcterms:modified xsi:type="dcterms:W3CDTF">2026-09-08T08:39:47Z</dcterms:modified>
  <cp:category/>
  <cp:contentStatus/>
</cp:coreProperties>
</file>